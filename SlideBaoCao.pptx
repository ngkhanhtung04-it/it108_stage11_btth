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rial"/>
              </a:defRPr>
            </a:pPr>
            <a:r>
              <a:t>4 phiếu mượn đã được chuẩn hóa; 1 mã sách cần kiểm 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36576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0" b="1">
                <a:solidFill>
                  <a:srgbClr val="1F4E79"/>
                </a:solidFill>
                <a:latin typeface="Arial"/>
              </a:defRPr>
            </a:pPr>
            <a:r>
              <a:t>4</a:t>
            </a:r>
          </a:p>
          <a:p>
            <a:pPr algn="ctr">
              <a:defRPr sz="1900">
                <a:latin typeface="Arial"/>
              </a:defRPr>
            </a:pPr>
            <a:r>
              <a:t>phiếu dữ liệu hợp lệ về cấu trúc</a:t>
            </a:r>
          </a:p>
          <a:p>
            <a:pPr algn="ctr">
              <a:defRPr sz="1600">
                <a:latin typeface="Arial"/>
              </a:defRPr>
            </a:pPr>
            <a:r>
              <a:t>1 mã S099 không có trong danh mục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508760"/>
            <a:ext cx="6583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latin typeface="Arial"/>
              </a:defRPr>
            </a:pPr>
            <a:r>
              <a:t>SỐ PHIẾU THEO TÌNH TRẠNG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09160" y="2148840"/>
            <a:ext cx="1417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latin typeface="Arial"/>
              </a:defRPr>
            </a:pPr>
            <a:r>
              <a:t>Đang mượn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2185416"/>
            <a:ext cx="5303520" cy="292608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0" y="213055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latin typeface="Arial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926080"/>
            <a:ext cx="1417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latin typeface="Arial"/>
              </a:defRPr>
            </a:pPr>
            <a:r>
              <a:t>Quá hạn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962656"/>
            <a:ext cx="2651760" cy="292608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290779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latin typeface="Arial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3703320"/>
            <a:ext cx="1417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latin typeface="Arial"/>
              </a:defRPr>
            </a:pPr>
            <a:r>
              <a:t>Đã trả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739896"/>
            <a:ext cx="2651760" cy="292608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368503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latin typeface="Arial"/>
              </a:defRPr>
            </a:pPr>
            <a: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800600"/>
            <a:ext cx="10881360" cy="22860"/>
          </a:xfrm>
          <a:prstGeom prst="rect">
            <a:avLst/>
          </a:prstGeom>
          <a:solidFill>
            <a:srgbClr val="C8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0292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latin typeface="Arial"/>
              </a:defRPr>
            </a:pPr>
            <a:r>
              <a:t>Ưu tiên xử lý: kiểm tra mã S099; VLOOKUP + IFERROR giúp báo “Không tìm thấy sách” thay vì #N/A.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893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Arial"/>
              </a:defRPr>
            </a:pPr>
            <a:r>
              <a:t>Rule 10/20/30: 1/10 slide (10%); khoảng 2 phút trình bày trong tổng thời lượng 20 phút; cỡ chữ lớn, một thông điệp.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